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88952" cy="1005840"/>
          </a:xfrm>
          <a:prstGeom prst="rect">
            <a:avLst/>
          </a:prstGeom>
          <a:solidFill>
            <a:srgbClr val="B00020"/>
          </a:solidFill>
          <a:ln>
            <a:noFill/>
          </a:ln>
        </p:spPr>
        <p:txBody>
          <a:bodyPr wrap="square">
            <a:spAutoFit/>
          </a:bodyPr>
          <a:lstStyle/>
          <a:p>
            <a:pPr algn="l">
              <a:defRPr sz="2800" b="1">
                <a:solidFill>
                  <a:srgbClr val="FFFFFF"/>
                </a:solidFill>
              </a:defRPr>
            </a:pPr>
            <a:r>
              <a:t>VinGuard Gateway Lộ trình 12 tháng</a:t>
            </a:r>
          </a:p>
        </p:txBody>
      </p:sp>
      <p:sp>
        <p:nvSpPr>
          <p:cNvPr id="3" name="TextBox 2"/>
          <p:cNvSpPr txBox="1"/>
          <p:nvPr/>
        </p:nvSpPr>
        <p:spPr>
          <a:xfrm>
            <a:off x="457200" y="1188720"/>
            <a:ext cx="11274552" cy="822960"/>
          </a:xfrm>
          <a:prstGeom prst="rect">
            <a:avLst/>
          </a:prstGeom>
          <a:noFill/>
        </p:spPr>
        <p:txBody>
          <a:bodyPr wrap="square">
            <a:spAutoFit/>
          </a:bodyPr>
          <a:lstStyle/>
          <a:p>
            <a:pPr algn="l">
              <a:defRPr sz="1400" b="0">
                <a:solidFill>
                  <a:srgbClr val="000000"/>
                </a:solidFill>
              </a:defRPr>
            </a:pPr>
            <a:r>
              <a:t>Kết luận. Nên đầu tư định tuyến, ngân sách và fallback trong 0 đến 3 tháng ở Mức 1 với 30 phần trăm hậu kiểm. Chỉ lên Mức 2 khi đạt 95 phần trăm đúng trên 500 ca và biên gộp từ 60 phần trăm. Đây là mục tiêu đề xuất.</a:t>
            </a:r>
          </a:p>
        </p:txBody>
      </p:sp>
      <p:sp>
        <p:nvSpPr>
          <p:cNvPr id="4" name="TextBox 3"/>
          <p:cNvSpPr txBox="1"/>
          <p:nvPr/>
        </p:nvSpPr>
        <p:spPr>
          <a:xfrm>
            <a:off x="457200" y="2194560"/>
            <a:ext cx="5577840" cy="1554480"/>
          </a:xfrm>
          <a:prstGeom prst="rect">
            <a:avLst/>
          </a:prstGeom>
          <a:noFill/>
        </p:spPr>
        <p:txBody>
          <a:bodyPr wrap="square">
            <a:spAutoFit/>
          </a:bodyPr>
          <a:lstStyle/>
          <a:p>
            <a:pPr algn="l">
              <a:defRPr sz="1400" b="0">
                <a:solidFill>
                  <a:srgbClr val="000000"/>
                </a:solidFill>
              </a:defRPr>
            </a:pPr>
            <a:r>
              <a:t>3 việc chính. Bây giờ hoàn thiện định tuyến và ngân sách và retry fallback. Tiếp theo mở rộng quan sát và chính sách. Sau này xem xét tự điều chỉnh khi đủ bằng chứng.</a:t>
            </a:r>
          </a:p>
        </p:txBody>
      </p:sp>
      <p:sp>
        <p:nvSpPr>
          <p:cNvPr id="5" name="TextBox 4"/>
          <p:cNvSpPr txBox="1"/>
          <p:nvPr/>
        </p:nvSpPr>
        <p:spPr>
          <a:xfrm>
            <a:off x="6126480" y="2194560"/>
            <a:ext cx="5577840" cy="1554480"/>
          </a:xfrm>
          <a:prstGeom prst="rect">
            <a:avLst/>
          </a:prstGeom>
          <a:noFill/>
        </p:spPr>
        <p:txBody>
          <a:bodyPr wrap="square">
            <a:spAutoFit/>
          </a:bodyPr>
          <a:lstStyle/>
          <a:p>
            <a:pPr algn="l">
              <a:defRPr sz="1400" b="0">
                <a:solidFill>
                  <a:srgbClr val="000000"/>
                </a:solidFill>
              </a:defRPr>
            </a:pPr>
            <a:r>
              <a:t>Cần gì. Lê Duy Bảo phụ trách toàn bộ. Cần log Gateway và bộ mẫu 500 request và hạ tầng chi phí theo team. Chi phí giả định 700 đồng mỗi request chưa duyệt.</a:t>
            </a:r>
          </a:p>
        </p:txBody>
      </p:sp>
      <p:sp>
        <p:nvSpPr>
          <p:cNvPr id="6" name="TextBox 5"/>
          <p:cNvSpPr txBox="1"/>
          <p:nvPr/>
        </p:nvSpPr>
        <p:spPr>
          <a:xfrm>
            <a:off x="457200" y="3931920"/>
            <a:ext cx="5577840" cy="1554480"/>
          </a:xfrm>
          <a:prstGeom prst="rect">
            <a:avLst/>
          </a:prstGeom>
          <a:noFill/>
        </p:spPr>
        <p:txBody>
          <a:bodyPr wrap="square">
            <a:spAutoFit/>
          </a:bodyPr>
          <a:lstStyle/>
          <a:p>
            <a:pPr algn="l">
              <a:defRPr sz="1400" b="0">
                <a:solidFill>
                  <a:srgbClr val="000000"/>
                </a:solidFill>
              </a:defRPr>
            </a:pPr>
            <a:r>
              <a:t>Rủi ro và xử lý. Rủi ro lớn nhất là fallback tăng và token đầu ra tăng làm vượt chi phí. Xử lý bằng giới hạn retry và dừng khi vi phạm và rollback về Mức 1.</a:t>
            </a:r>
          </a:p>
        </p:txBody>
      </p:sp>
      <p:sp>
        <p:nvSpPr>
          <p:cNvPr id="7" name="TextBox 6"/>
          <p:cNvSpPr txBox="1"/>
          <p:nvPr/>
        </p:nvSpPr>
        <p:spPr>
          <a:xfrm>
            <a:off x="6126480" y="3931920"/>
            <a:ext cx="5577840" cy="1554480"/>
          </a:xfrm>
          <a:prstGeom prst="rect">
            <a:avLst/>
          </a:prstGeom>
          <a:noFill/>
        </p:spPr>
        <p:txBody>
          <a:bodyPr wrap="square">
            <a:spAutoFit/>
          </a:bodyPr>
          <a:lstStyle/>
          <a:p>
            <a:pPr algn="l">
              <a:defRPr sz="1400" b="0">
                <a:solidFill>
                  <a:srgbClr val="000000"/>
                </a:solidFill>
              </a:defRPr>
            </a:pPr>
            <a:r>
              <a:t>Khi nào xem lại. Xem lại vào ngày 30, 60 và 90 cùng khi giá model đổi hoặc đối thủ ra tính năng tương tự hoặc quy định đổi. Lê Duy Bảo quyết trong phạm vi bài cá nhân.</a:t>
            </a:r>
          </a:p>
        </p:txBody>
      </p:sp>
      <p:sp>
        <p:nvSpPr>
          <p:cNvPr id="8" name="TextBox 7"/>
          <p:cNvSpPr txBox="1"/>
          <p:nvPr/>
        </p:nvSpPr>
        <p:spPr>
          <a:xfrm>
            <a:off x="0" y="6035040"/>
            <a:ext cx="12188952" cy="822960"/>
          </a:xfrm>
          <a:prstGeom prst="rect">
            <a:avLst/>
          </a:prstGeom>
          <a:solidFill>
            <a:srgbClr val="B00020"/>
          </a:solidFill>
          <a:ln>
            <a:noFill/>
          </a:ln>
        </p:spPr>
        <p:txBody>
          <a:bodyPr wrap="square">
            <a:spAutoFit/>
          </a:bodyPr>
          <a:lstStyle/>
          <a:p>
            <a:pPr algn="l">
              <a:defRPr sz="1400" b="1">
                <a:solidFill>
                  <a:srgbClr val="FFFFFF"/>
                </a:solidFill>
              </a:defRPr>
            </a:pPr>
            <a:r>
              <a:t>Lê Duy Bảo 2A202602749 Cá nhân phụ trách toàn bộ VinGuard Gateway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